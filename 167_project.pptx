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82"/>
  </p:normalViewPr>
  <p:slideViewPr>
    <p:cSldViewPr snapToGrid="0">
      <p:cViewPr varScale="1">
        <p:scale>
          <a:sx n="116" d="100"/>
          <a:sy n="116" d="100"/>
        </p:scale>
        <p:origin x="20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7FCBA0-E807-4B1F-9881-3FD14F3D119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995A9B-5DDD-4743-A9D6-E7807F0A19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Deeper CNN models learn better features than a basic CNN</a:t>
          </a:r>
        </a:p>
      </dgm:t>
    </dgm:pt>
    <dgm:pt modelId="{9C746C1F-DABE-44B9-939A-63686E13DDB2}" type="parTrans" cxnId="{05E348E4-B197-4C15-AA5A-2D27AB02C991}">
      <dgm:prSet/>
      <dgm:spPr/>
      <dgm:t>
        <a:bodyPr/>
        <a:lstStyle/>
        <a:p>
          <a:endParaRPr lang="en-US"/>
        </a:p>
      </dgm:t>
    </dgm:pt>
    <dgm:pt modelId="{519D1129-8C63-4213-B682-4852E058BD11}" type="sibTrans" cxnId="{05E348E4-B197-4C15-AA5A-2D27AB02C991}">
      <dgm:prSet/>
      <dgm:spPr/>
      <dgm:t>
        <a:bodyPr/>
        <a:lstStyle/>
        <a:p>
          <a:endParaRPr lang="en-US"/>
        </a:p>
      </dgm:t>
    </dgm:pt>
    <dgm:pt modelId="{48425BE3-1567-4A88-A591-9705D0FDC4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MobileNetV2 transfer learning gave the highest accuracy (~76%)</a:t>
          </a:r>
        </a:p>
      </dgm:t>
    </dgm:pt>
    <dgm:pt modelId="{A8D23216-CB83-4776-AE39-7C751D71E502}" type="parTrans" cxnId="{C49CAF6A-4188-43DC-9C3D-FF030C64FC9A}">
      <dgm:prSet/>
      <dgm:spPr/>
      <dgm:t>
        <a:bodyPr/>
        <a:lstStyle/>
        <a:p>
          <a:endParaRPr lang="en-US"/>
        </a:p>
      </dgm:t>
    </dgm:pt>
    <dgm:pt modelId="{67878B72-EC9E-4A86-854A-2C8202DDEA48}" type="sibTrans" cxnId="{C49CAF6A-4188-43DC-9C3D-FF030C64FC9A}">
      <dgm:prSet/>
      <dgm:spPr/>
      <dgm:t>
        <a:bodyPr/>
        <a:lstStyle/>
        <a:p>
          <a:endParaRPr lang="en-US"/>
        </a:p>
      </dgm:t>
    </dgm:pt>
    <dgm:pt modelId="{9C7A5AAD-2ACA-4366-A19C-A1635D0ED4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Adam optimizer converged faster and performed better than SGD</a:t>
          </a:r>
        </a:p>
      </dgm:t>
    </dgm:pt>
    <dgm:pt modelId="{3089A89C-D9DC-4E92-B0CD-AB71640CEC7E}" type="parTrans" cxnId="{B8AE8881-C0C0-486F-89B7-CACF2FDD4788}">
      <dgm:prSet/>
      <dgm:spPr/>
      <dgm:t>
        <a:bodyPr/>
        <a:lstStyle/>
        <a:p>
          <a:endParaRPr lang="en-US"/>
        </a:p>
      </dgm:t>
    </dgm:pt>
    <dgm:pt modelId="{DEBDB797-C849-4F94-B424-C6994ECEA77C}" type="sibTrans" cxnId="{B8AE8881-C0C0-486F-89B7-CACF2FDD4788}">
      <dgm:prSet/>
      <dgm:spPr/>
      <dgm:t>
        <a:bodyPr/>
        <a:lstStyle/>
        <a:p>
          <a:endParaRPr lang="en-US"/>
        </a:p>
      </dgm:t>
    </dgm:pt>
    <dgm:pt modelId="{081D68EE-C73A-4CD4-AA56-9EC1760512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Data augmentation reduced overfitting and improved validation accuracy</a:t>
          </a:r>
        </a:p>
      </dgm:t>
    </dgm:pt>
    <dgm:pt modelId="{173D7F6E-4E58-4C3E-8B7B-0F25E9C9E548}" type="parTrans" cxnId="{6D91D1E8-6CA9-4A31-84BE-D50C9B7C5265}">
      <dgm:prSet/>
      <dgm:spPr/>
      <dgm:t>
        <a:bodyPr/>
        <a:lstStyle/>
        <a:p>
          <a:endParaRPr lang="en-US"/>
        </a:p>
      </dgm:t>
    </dgm:pt>
    <dgm:pt modelId="{A1689CE9-BCD9-421E-8683-C788690EA6BB}" type="sibTrans" cxnId="{6D91D1E8-6CA9-4A31-84BE-D50C9B7C5265}">
      <dgm:prSet/>
      <dgm:spPr/>
      <dgm:t>
        <a:bodyPr/>
        <a:lstStyle/>
        <a:p>
          <a:endParaRPr lang="en-US"/>
        </a:p>
      </dgm:t>
    </dgm:pt>
    <dgm:pt modelId="{DBEA2189-C9CA-4546-89EE-0BD923A6C8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Misclassifications mostly occurred in visually similar classes (e.g., cat vs dog)</a:t>
          </a:r>
        </a:p>
      </dgm:t>
    </dgm:pt>
    <dgm:pt modelId="{AF5FED1B-78EC-4727-828F-A4240EBD493F}" type="parTrans" cxnId="{69E5286B-449A-4C5A-A755-661BACDC2BBB}">
      <dgm:prSet/>
      <dgm:spPr/>
      <dgm:t>
        <a:bodyPr/>
        <a:lstStyle/>
        <a:p>
          <a:endParaRPr lang="en-US"/>
        </a:p>
      </dgm:t>
    </dgm:pt>
    <dgm:pt modelId="{455BE014-6492-4D8D-B4D8-06A7DC5144E7}" type="sibTrans" cxnId="{69E5286B-449A-4C5A-A755-661BACDC2BBB}">
      <dgm:prSet/>
      <dgm:spPr/>
      <dgm:t>
        <a:bodyPr/>
        <a:lstStyle/>
        <a:p>
          <a:endParaRPr lang="en-US"/>
        </a:p>
      </dgm:t>
    </dgm:pt>
    <dgm:pt modelId="{55C9DE00-2C5D-4505-AF40-B7B07DCC7174}" type="pres">
      <dgm:prSet presAssocID="{7B7FCBA0-E807-4B1F-9881-3FD14F3D1192}" presName="root" presStyleCnt="0">
        <dgm:presLayoutVars>
          <dgm:dir/>
          <dgm:resizeHandles val="exact"/>
        </dgm:presLayoutVars>
      </dgm:prSet>
      <dgm:spPr/>
    </dgm:pt>
    <dgm:pt modelId="{CF686F99-78F8-4280-B685-F57411A9074A}" type="pres">
      <dgm:prSet presAssocID="{6E995A9B-5DDD-4743-A9D6-E7807F0A1945}" presName="compNode" presStyleCnt="0"/>
      <dgm:spPr/>
    </dgm:pt>
    <dgm:pt modelId="{9F0C8E83-9E4C-42ED-8C51-AC33F69351E4}" type="pres">
      <dgm:prSet presAssocID="{6E995A9B-5DDD-4743-A9D6-E7807F0A1945}" presName="bgRect" presStyleLbl="bgShp" presStyleIdx="0" presStyleCnt="5"/>
      <dgm:spPr/>
    </dgm:pt>
    <dgm:pt modelId="{E4F51295-D1B6-4566-AAA7-5C970A5CDCC9}" type="pres">
      <dgm:prSet presAssocID="{6E995A9B-5DDD-4743-A9D6-E7807F0A194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DFF5447B-CB5C-479A-8DA4-3316EAE9B254}" type="pres">
      <dgm:prSet presAssocID="{6E995A9B-5DDD-4743-A9D6-E7807F0A1945}" presName="spaceRect" presStyleCnt="0"/>
      <dgm:spPr/>
    </dgm:pt>
    <dgm:pt modelId="{0352BF3A-01B8-44D0-82CF-202C6E9D99C1}" type="pres">
      <dgm:prSet presAssocID="{6E995A9B-5DDD-4743-A9D6-E7807F0A1945}" presName="parTx" presStyleLbl="revTx" presStyleIdx="0" presStyleCnt="5">
        <dgm:presLayoutVars>
          <dgm:chMax val="0"/>
          <dgm:chPref val="0"/>
        </dgm:presLayoutVars>
      </dgm:prSet>
      <dgm:spPr/>
    </dgm:pt>
    <dgm:pt modelId="{4314F1F4-C915-48D0-8107-47233B45407A}" type="pres">
      <dgm:prSet presAssocID="{519D1129-8C63-4213-B682-4852E058BD11}" presName="sibTrans" presStyleCnt="0"/>
      <dgm:spPr/>
    </dgm:pt>
    <dgm:pt modelId="{9D681750-91BA-4325-BAEA-8C2DBD589614}" type="pres">
      <dgm:prSet presAssocID="{48425BE3-1567-4A88-A591-9705D0FDC464}" presName="compNode" presStyleCnt="0"/>
      <dgm:spPr/>
    </dgm:pt>
    <dgm:pt modelId="{CDF1B037-F984-4608-9299-4478F953D72A}" type="pres">
      <dgm:prSet presAssocID="{48425BE3-1567-4A88-A591-9705D0FDC464}" presName="bgRect" presStyleLbl="bgShp" presStyleIdx="1" presStyleCnt="5"/>
      <dgm:spPr/>
    </dgm:pt>
    <dgm:pt modelId="{ADD97621-5D61-47D2-9B5E-7CECB95B65D7}" type="pres">
      <dgm:prSet presAssocID="{48425BE3-1567-4A88-A591-9705D0FDC46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C0B25BFD-D834-4206-AAE5-DD309F90B828}" type="pres">
      <dgm:prSet presAssocID="{48425BE3-1567-4A88-A591-9705D0FDC464}" presName="spaceRect" presStyleCnt="0"/>
      <dgm:spPr/>
    </dgm:pt>
    <dgm:pt modelId="{C7CE20E1-06F8-43F1-B2DE-EB7913B28147}" type="pres">
      <dgm:prSet presAssocID="{48425BE3-1567-4A88-A591-9705D0FDC464}" presName="parTx" presStyleLbl="revTx" presStyleIdx="1" presStyleCnt="5">
        <dgm:presLayoutVars>
          <dgm:chMax val="0"/>
          <dgm:chPref val="0"/>
        </dgm:presLayoutVars>
      </dgm:prSet>
      <dgm:spPr/>
    </dgm:pt>
    <dgm:pt modelId="{4FE2BC51-7777-4D9C-B877-3B23AECD80DD}" type="pres">
      <dgm:prSet presAssocID="{67878B72-EC9E-4A86-854A-2C8202DDEA48}" presName="sibTrans" presStyleCnt="0"/>
      <dgm:spPr/>
    </dgm:pt>
    <dgm:pt modelId="{4689AD63-2679-40E5-818F-2B98EB1862DC}" type="pres">
      <dgm:prSet presAssocID="{9C7A5AAD-2ACA-4366-A19C-A1635D0ED428}" presName="compNode" presStyleCnt="0"/>
      <dgm:spPr/>
    </dgm:pt>
    <dgm:pt modelId="{38079CCF-DA41-48BD-9450-A38BF6A1E651}" type="pres">
      <dgm:prSet presAssocID="{9C7A5AAD-2ACA-4366-A19C-A1635D0ED428}" presName="bgRect" presStyleLbl="bgShp" presStyleIdx="2" presStyleCnt="5"/>
      <dgm:spPr/>
    </dgm:pt>
    <dgm:pt modelId="{3A64EA61-B45F-4587-B556-41F6CA333504}" type="pres">
      <dgm:prSet presAssocID="{9C7A5AAD-2ACA-4366-A19C-A1635D0ED42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55512C3E-81B4-4816-B7DC-4911D1275C41}" type="pres">
      <dgm:prSet presAssocID="{9C7A5AAD-2ACA-4366-A19C-A1635D0ED428}" presName="spaceRect" presStyleCnt="0"/>
      <dgm:spPr/>
    </dgm:pt>
    <dgm:pt modelId="{2E053C92-B2E2-437A-9A6E-C09F589C102A}" type="pres">
      <dgm:prSet presAssocID="{9C7A5AAD-2ACA-4366-A19C-A1635D0ED428}" presName="parTx" presStyleLbl="revTx" presStyleIdx="2" presStyleCnt="5">
        <dgm:presLayoutVars>
          <dgm:chMax val="0"/>
          <dgm:chPref val="0"/>
        </dgm:presLayoutVars>
      </dgm:prSet>
      <dgm:spPr/>
    </dgm:pt>
    <dgm:pt modelId="{A06E6311-8514-4898-BC9A-A0B1AC301FD5}" type="pres">
      <dgm:prSet presAssocID="{DEBDB797-C849-4F94-B424-C6994ECEA77C}" presName="sibTrans" presStyleCnt="0"/>
      <dgm:spPr/>
    </dgm:pt>
    <dgm:pt modelId="{586955BE-E2B4-4A88-A2E0-6C7F29ECF1AE}" type="pres">
      <dgm:prSet presAssocID="{081D68EE-C73A-4CD4-AA56-9EC176051250}" presName="compNode" presStyleCnt="0"/>
      <dgm:spPr/>
    </dgm:pt>
    <dgm:pt modelId="{9E81F582-0469-473A-814C-808A9FDFA51F}" type="pres">
      <dgm:prSet presAssocID="{081D68EE-C73A-4CD4-AA56-9EC176051250}" presName="bgRect" presStyleLbl="bgShp" presStyleIdx="3" presStyleCnt="5"/>
      <dgm:spPr/>
    </dgm:pt>
    <dgm:pt modelId="{57DB5487-18FA-402D-80BF-5FFFD4AE217B}" type="pres">
      <dgm:prSet presAssocID="{081D68EE-C73A-4CD4-AA56-9EC17605125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F52F773-ED30-4881-9EC8-4BD9FFF1D815}" type="pres">
      <dgm:prSet presAssocID="{081D68EE-C73A-4CD4-AA56-9EC176051250}" presName="spaceRect" presStyleCnt="0"/>
      <dgm:spPr/>
    </dgm:pt>
    <dgm:pt modelId="{D1A140DA-5317-4A6F-8DB7-303473A8E57F}" type="pres">
      <dgm:prSet presAssocID="{081D68EE-C73A-4CD4-AA56-9EC176051250}" presName="parTx" presStyleLbl="revTx" presStyleIdx="3" presStyleCnt="5">
        <dgm:presLayoutVars>
          <dgm:chMax val="0"/>
          <dgm:chPref val="0"/>
        </dgm:presLayoutVars>
      </dgm:prSet>
      <dgm:spPr/>
    </dgm:pt>
    <dgm:pt modelId="{04A5B62C-EED4-4BBC-87ED-96761CF9C693}" type="pres">
      <dgm:prSet presAssocID="{A1689CE9-BCD9-421E-8683-C788690EA6BB}" presName="sibTrans" presStyleCnt="0"/>
      <dgm:spPr/>
    </dgm:pt>
    <dgm:pt modelId="{F751E4C7-C5AC-413D-BD6A-D62A8C785152}" type="pres">
      <dgm:prSet presAssocID="{DBEA2189-C9CA-4546-89EE-0BD923A6C8E0}" presName="compNode" presStyleCnt="0"/>
      <dgm:spPr/>
    </dgm:pt>
    <dgm:pt modelId="{CB2781B1-608A-45CF-8F17-FC72CB40B99A}" type="pres">
      <dgm:prSet presAssocID="{DBEA2189-C9CA-4546-89EE-0BD923A6C8E0}" presName="bgRect" presStyleLbl="bgShp" presStyleIdx="4" presStyleCnt="5"/>
      <dgm:spPr/>
    </dgm:pt>
    <dgm:pt modelId="{1A48D6B1-D801-4FF0-9EF3-6B97E4974C97}" type="pres">
      <dgm:prSet presAssocID="{DBEA2189-C9CA-4546-89EE-0BD923A6C8E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7C159A1D-F7D5-4DFC-9E52-CF0CC878C9FF}" type="pres">
      <dgm:prSet presAssocID="{DBEA2189-C9CA-4546-89EE-0BD923A6C8E0}" presName="spaceRect" presStyleCnt="0"/>
      <dgm:spPr/>
    </dgm:pt>
    <dgm:pt modelId="{497305AD-3C76-4783-9027-87F6B4FDF6CE}" type="pres">
      <dgm:prSet presAssocID="{DBEA2189-C9CA-4546-89EE-0BD923A6C8E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BA9A83B-85D7-4289-A64D-16BFF2BDF8E8}" type="presOf" srcId="{6E995A9B-5DDD-4743-A9D6-E7807F0A1945}" destId="{0352BF3A-01B8-44D0-82CF-202C6E9D99C1}" srcOrd="0" destOrd="0" presId="urn:microsoft.com/office/officeart/2018/2/layout/IconVerticalSolidList"/>
    <dgm:cxn modelId="{C49CAF6A-4188-43DC-9C3D-FF030C64FC9A}" srcId="{7B7FCBA0-E807-4B1F-9881-3FD14F3D1192}" destId="{48425BE3-1567-4A88-A591-9705D0FDC464}" srcOrd="1" destOrd="0" parTransId="{A8D23216-CB83-4776-AE39-7C751D71E502}" sibTransId="{67878B72-EC9E-4A86-854A-2C8202DDEA48}"/>
    <dgm:cxn modelId="{69E5286B-449A-4C5A-A755-661BACDC2BBB}" srcId="{7B7FCBA0-E807-4B1F-9881-3FD14F3D1192}" destId="{DBEA2189-C9CA-4546-89EE-0BD923A6C8E0}" srcOrd="4" destOrd="0" parTransId="{AF5FED1B-78EC-4727-828F-A4240EBD493F}" sibTransId="{455BE014-6492-4D8D-B4D8-06A7DC5144E7}"/>
    <dgm:cxn modelId="{B8AE8881-C0C0-486F-89B7-CACF2FDD4788}" srcId="{7B7FCBA0-E807-4B1F-9881-3FD14F3D1192}" destId="{9C7A5AAD-2ACA-4366-A19C-A1635D0ED428}" srcOrd="2" destOrd="0" parTransId="{3089A89C-D9DC-4E92-B0CD-AB71640CEC7E}" sibTransId="{DEBDB797-C849-4F94-B424-C6994ECEA77C}"/>
    <dgm:cxn modelId="{ADCFC89F-48AB-436D-A48B-2ECF0F61E244}" type="presOf" srcId="{081D68EE-C73A-4CD4-AA56-9EC176051250}" destId="{D1A140DA-5317-4A6F-8DB7-303473A8E57F}" srcOrd="0" destOrd="0" presId="urn:microsoft.com/office/officeart/2018/2/layout/IconVerticalSolidList"/>
    <dgm:cxn modelId="{6D4DD2BC-7F18-460A-911B-E4538FE04C30}" type="presOf" srcId="{48425BE3-1567-4A88-A591-9705D0FDC464}" destId="{C7CE20E1-06F8-43F1-B2DE-EB7913B28147}" srcOrd="0" destOrd="0" presId="urn:microsoft.com/office/officeart/2018/2/layout/IconVerticalSolidList"/>
    <dgm:cxn modelId="{C430E1C0-372F-4A80-96A7-F8E5C42F0D45}" type="presOf" srcId="{DBEA2189-C9CA-4546-89EE-0BD923A6C8E0}" destId="{497305AD-3C76-4783-9027-87F6B4FDF6CE}" srcOrd="0" destOrd="0" presId="urn:microsoft.com/office/officeart/2018/2/layout/IconVerticalSolidList"/>
    <dgm:cxn modelId="{DD8D95CE-8405-4009-92DC-45385615EB03}" type="presOf" srcId="{7B7FCBA0-E807-4B1F-9881-3FD14F3D1192}" destId="{55C9DE00-2C5D-4505-AF40-B7B07DCC7174}" srcOrd="0" destOrd="0" presId="urn:microsoft.com/office/officeart/2018/2/layout/IconVerticalSolidList"/>
    <dgm:cxn modelId="{699DECD7-D31A-4B72-81C5-5F49B9E17E48}" type="presOf" srcId="{9C7A5AAD-2ACA-4366-A19C-A1635D0ED428}" destId="{2E053C92-B2E2-437A-9A6E-C09F589C102A}" srcOrd="0" destOrd="0" presId="urn:microsoft.com/office/officeart/2018/2/layout/IconVerticalSolidList"/>
    <dgm:cxn modelId="{05E348E4-B197-4C15-AA5A-2D27AB02C991}" srcId="{7B7FCBA0-E807-4B1F-9881-3FD14F3D1192}" destId="{6E995A9B-5DDD-4743-A9D6-E7807F0A1945}" srcOrd="0" destOrd="0" parTransId="{9C746C1F-DABE-44B9-939A-63686E13DDB2}" sibTransId="{519D1129-8C63-4213-B682-4852E058BD11}"/>
    <dgm:cxn modelId="{6D91D1E8-6CA9-4A31-84BE-D50C9B7C5265}" srcId="{7B7FCBA0-E807-4B1F-9881-3FD14F3D1192}" destId="{081D68EE-C73A-4CD4-AA56-9EC176051250}" srcOrd="3" destOrd="0" parTransId="{173D7F6E-4E58-4C3E-8B7B-0F25E9C9E548}" sibTransId="{A1689CE9-BCD9-421E-8683-C788690EA6BB}"/>
    <dgm:cxn modelId="{3A656D0D-F799-4B77-B9BD-459B9D36CE3C}" type="presParOf" srcId="{55C9DE00-2C5D-4505-AF40-B7B07DCC7174}" destId="{CF686F99-78F8-4280-B685-F57411A9074A}" srcOrd="0" destOrd="0" presId="urn:microsoft.com/office/officeart/2018/2/layout/IconVerticalSolidList"/>
    <dgm:cxn modelId="{79768724-4B1D-4327-BC87-793AFC1B9796}" type="presParOf" srcId="{CF686F99-78F8-4280-B685-F57411A9074A}" destId="{9F0C8E83-9E4C-42ED-8C51-AC33F69351E4}" srcOrd="0" destOrd="0" presId="urn:microsoft.com/office/officeart/2018/2/layout/IconVerticalSolidList"/>
    <dgm:cxn modelId="{C9B6590C-F8EC-4321-A01A-5111461C9537}" type="presParOf" srcId="{CF686F99-78F8-4280-B685-F57411A9074A}" destId="{E4F51295-D1B6-4566-AAA7-5C970A5CDCC9}" srcOrd="1" destOrd="0" presId="urn:microsoft.com/office/officeart/2018/2/layout/IconVerticalSolidList"/>
    <dgm:cxn modelId="{D19E6982-7697-4C68-98AC-05AD5970DEDB}" type="presParOf" srcId="{CF686F99-78F8-4280-B685-F57411A9074A}" destId="{DFF5447B-CB5C-479A-8DA4-3316EAE9B254}" srcOrd="2" destOrd="0" presId="urn:microsoft.com/office/officeart/2018/2/layout/IconVerticalSolidList"/>
    <dgm:cxn modelId="{1F121D69-6943-4F76-A414-ADF3B178C53D}" type="presParOf" srcId="{CF686F99-78F8-4280-B685-F57411A9074A}" destId="{0352BF3A-01B8-44D0-82CF-202C6E9D99C1}" srcOrd="3" destOrd="0" presId="urn:microsoft.com/office/officeart/2018/2/layout/IconVerticalSolidList"/>
    <dgm:cxn modelId="{F3C022CC-11DA-4829-A356-6BCF4F446604}" type="presParOf" srcId="{55C9DE00-2C5D-4505-AF40-B7B07DCC7174}" destId="{4314F1F4-C915-48D0-8107-47233B45407A}" srcOrd="1" destOrd="0" presId="urn:microsoft.com/office/officeart/2018/2/layout/IconVerticalSolidList"/>
    <dgm:cxn modelId="{43DD3266-BA57-46AD-900E-666992CF21B3}" type="presParOf" srcId="{55C9DE00-2C5D-4505-AF40-B7B07DCC7174}" destId="{9D681750-91BA-4325-BAEA-8C2DBD589614}" srcOrd="2" destOrd="0" presId="urn:microsoft.com/office/officeart/2018/2/layout/IconVerticalSolidList"/>
    <dgm:cxn modelId="{46CC9AA2-2FE5-4A18-99A4-21265A4E9155}" type="presParOf" srcId="{9D681750-91BA-4325-BAEA-8C2DBD589614}" destId="{CDF1B037-F984-4608-9299-4478F953D72A}" srcOrd="0" destOrd="0" presId="urn:microsoft.com/office/officeart/2018/2/layout/IconVerticalSolidList"/>
    <dgm:cxn modelId="{ABB9CD05-0225-4137-A669-520B8964782E}" type="presParOf" srcId="{9D681750-91BA-4325-BAEA-8C2DBD589614}" destId="{ADD97621-5D61-47D2-9B5E-7CECB95B65D7}" srcOrd="1" destOrd="0" presId="urn:microsoft.com/office/officeart/2018/2/layout/IconVerticalSolidList"/>
    <dgm:cxn modelId="{563F3D50-0077-4F92-8BB6-D1299222FE9A}" type="presParOf" srcId="{9D681750-91BA-4325-BAEA-8C2DBD589614}" destId="{C0B25BFD-D834-4206-AAE5-DD309F90B828}" srcOrd="2" destOrd="0" presId="urn:microsoft.com/office/officeart/2018/2/layout/IconVerticalSolidList"/>
    <dgm:cxn modelId="{6D300C86-9FBD-46CA-8793-BFC1D8C8B5A0}" type="presParOf" srcId="{9D681750-91BA-4325-BAEA-8C2DBD589614}" destId="{C7CE20E1-06F8-43F1-B2DE-EB7913B28147}" srcOrd="3" destOrd="0" presId="urn:microsoft.com/office/officeart/2018/2/layout/IconVerticalSolidList"/>
    <dgm:cxn modelId="{37605B1B-BB58-44E4-BD19-2FA60801EBA8}" type="presParOf" srcId="{55C9DE00-2C5D-4505-AF40-B7B07DCC7174}" destId="{4FE2BC51-7777-4D9C-B877-3B23AECD80DD}" srcOrd="3" destOrd="0" presId="urn:microsoft.com/office/officeart/2018/2/layout/IconVerticalSolidList"/>
    <dgm:cxn modelId="{42ACF99B-B04B-4225-AF14-A9D2388E4670}" type="presParOf" srcId="{55C9DE00-2C5D-4505-AF40-B7B07DCC7174}" destId="{4689AD63-2679-40E5-818F-2B98EB1862DC}" srcOrd="4" destOrd="0" presId="urn:microsoft.com/office/officeart/2018/2/layout/IconVerticalSolidList"/>
    <dgm:cxn modelId="{D7992D88-8728-4997-A82D-D9FE338FAA14}" type="presParOf" srcId="{4689AD63-2679-40E5-818F-2B98EB1862DC}" destId="{38079CCF-DA41-48BD-9450-A38BF6A1E651}" srcOrd="0" destOrd="0" presId="urn:microsoft.com/office/officeart/2018/2/layout/IconVerticalSolidList"/>
    <dgm:cxn modelId="{69492785-90AD-41D8-8987-BE1B5C037302}" type="presParOf" srcId="{4689AD63-2679-40E5-818F-2B98EB1862DC}" destId="{3A64EA61-B45F-4587-B556-41F6CA333504}" srcOrd="1" destOrd="0" presId="urn:microsoft.com/office/officeart/2018/2/layout/IconVerticalSolidList"/>
    <dgm:cxn modelId="{6A1A883F-8A6E-43C1-993A-E1A2351A49E0}" type="presParOf" srcId="{4689AD63-2679-40E5-818F-2B98EB1862DC}" destId="{55512C3E-81B4-4816-B7DC-4911D1275C41}" srcOrd="2" destOrd="0" presId="urn:microsoft.com/office/officeart/2018/2/layout/IconVerticalSolidList"/>
    <dgm:cxn modelId="{E209F36E-8469-4CBD-81F0-E21EDC829613}" type="presParOf" srcId="{4689AD63-2679-40E5-818F-2B98EB1862DC}" destId="{2E053C92-B2E2-437A-9A6E-C09F589C102A}" srcOrd="3" destOrd="0" presId="urn:microsoft.com/office/officeart/2018/2/layout/IconVerticalSolidList"/>
    <dgm:cxn modelId="{108526AF-D8A5-40F3-A8E4-91341F33B126}" type="presParOf" srcId="{55C9DE00-2C5D-4505-AF40-B7B07DCC7174}" destId="{A06E6311-8514-4898-BC9A-A0B1AC301FD5}" srcOrd="5" destOrd="0" presId="urn:microsoft.com/office/officeart/2018/2/layout/IconVerticalSolidList"/>
    <dgm:cxn modelId="{48322D52-5AA0-4CA1-A423-300CA58FA61A}" type="presParOf" srcId="{55C9DE00-2C5D-4505-AF40-B7B07DCC7174}" destId="{586955BE-E2B4-4A88-A2E0-6C7F29ECF1AE}" srcOrd="6" destOrd="0" presId="urn:microsoft.com/office/officeart/2018/2/layout/IconVerticalSolidList"/>
    <dgm:cxn modelId="{0E46441B-795F-4851-9382-43AA35DCD40D}" type="presParOf" srcId="{586955BE-E2B4-4A88-A2E0-6C7F29ECF1AE}" destId="{9E81F582-0469-473A-814C-808A9FDFA51F}" srcOrd="0" destOrd="0" presId="urn:microsoft.com/office/officeart/2018/2/layout/IconVerticalSolidList"/>
    <dgm:cxn modelId="{568D22A5-6185-48A2-943E-1B59E541B68F}" type="presParOf" srcId="{586955BE-E2B4-4A88-A2E0-6C7F29ECF1AE}" destId="{57DB5487-18FA-402D-80BF-5FFFD4AE217B}" srcOrd="1" destOrd="0" presId="urn:microsoft.com/office/officeart/2018/2/layout/IconVerticalSolidList"/>
    <dgm:cxn modelId="{B04353E8-F069-4929-B975-F324594B60AB}" type="presParOf" srcId="{586955BE-E2B4-4A88-A2E0-6C7F29ECF1AE}" destId="{BF52F773-ED30-4881-9EC8-4BD9FFF1D815}" srcOrd="2" destOrd="0" presId="urn:microsoft.com/office/officeart/2018/2/layout/IconVerticalSolidList"/>
    <dgm:cxn modelId="{501DA180-8F22-4E55-BCF3-A88DB1F269FA}" type="presParOf" srcId="{586955BE-E2B4-4A88-A2E0-6C7F29ECF1AE}" destId="{D1A140DA-5317-4A6F-8DB7-303473A8E57F}" srcOrd="3" destOrd="0" presId="urn:microsoft.com/office/officeart/2018/2/layout/IconVerticalSolidList"/>
    <dgm:cxn modelId="{5E60AB6C-62BC-444C-B0E6-044EA8F3898E}" type="presParOf" srcId="{55C9DE00-2C5D-4505-AF40-B7B07DCC7174}" destId="{04A5B62C-EED4-4BBC-87ED-96761CF9C693}" srcOrd="7" destOrd="0" presId="urn:microsoft.com/office/officeart/2018/2/layout/IconVerticalSolidList"/>
    <dgm:cxn modelId="{54AC0B24-43FB-49C5-9C9B-AB60BD90B562}" type="presParOf" srcId="{55C9DE00-2C5D-4505-AF40-B7B07DCC7174}" destId="{F751E4C7-C5AC-413D-BD6A-D62A8C785152}" srcOrd="8" destOrd="0" presId="urn:microsoft.com/office/officeart/2018/2/layout/IconVerticalSolidList"/>
    <dgm:cxn modelId="{EA8F69FB-EA2E-47F0-93E3-CCCAE84AA1B0}" type="presParOf" srcId="{F751E4C7-C5AC-413D-BD6A-D62A8C785152}" destId="{CB2781B1-608A-45CF-8F17-FC72CB40B99A}" srcOrd="0" destOrd="0" presId="urn:microsoft.com/office/officeart/2018/2/layout/IconVerticalSolidList"/>
    <dgm:cxn modelId="{A440B574-7C87-4750-BECC-36F377829507}" type="presParOf" srcId="{F751E4C7-C5AC-413D-BD6A-D62A8C785152}" destId="{1A48D6B1-D801-4FF0-9EF3-6B97E4974C97}" srcOrd="1" destOrd="0" presId="urn:microsoft.com/office/officeart/2018/2/layout/IconVerticalSolidList"/>
    <dgm:cxn modelId="{DF2DBC0E-D723-4189-A1FA-4E892CD70872}" type="presParOf" srcId="{F751E4C7-C5AC-413D-BD6A-D62A8C785152}" destId="{7C159A1D-F7D5-4DFC-9E52-CF0CC878C9FF}" srcOrd="2" destOrd="0" presId="urn:microsoft.com/office/officeart/2018/2/layout/IconVerticalSolidList"/>
    <dgm:cxn modelId="{2564D5B8-DFD2-40F5-9939-5605D0DAC5D3}" type="presParOf" srcId="{F751E4C7-C5AC-413D-BD6A-D62A8C785152}" destId="{497305AD-3C76-4783-9027-87F6B4FDF6C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0C8E83-9E4C-42ED-8C51-AC33F69351E4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F51295-D1B6-4566-AAA7-5C970A5CDCC9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52BF3A-01B8-44D0-82CF-202C6E9D99C1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Deeper CNN models learn better features than a basic CNN</a:t>
          </a:r>
        </a:p>
      </dsp:txBody>
      <dsp:txXfrm>
        <a:off x="836323" y="3399"/>
        <a:ext cx="9679276" cy="724089"/>
      </dsp:txXfrm>
    </dsp:sp>
    <dsp:sp modelId="{CDF1B037-F984-4608-9299-4478F953D72A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D97621-5D61-47D2-9B5E-7CECB95B65D7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CE20E1-06F8-43F1-B2DE-EB7913B28147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MobileNetV2 transfer learning gave the highest accuracy (~76%)</a:t>
          </a:r>
        </a:p>
      </dsp:txBody>
      <dsp:txXfrm>
        <a:off x="836323" y="908511"/>
        <a:ext cx="9679276" cy="724089"/>
      </dsp:txXfrm>
    </dsp:sp>
    <dsp:sp modelId="{38079CCF-DA41-48BD-9450-A38BF6A1E651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64EA61-B45F-4587-B556-41F6CA333504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053C92-B2E2-437A-9A6E-C09F589C102A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Adam optimizer converged faster and performed better than SGD</a:t>
          </a:r>
        </a:p>
      </dsp:txBody>
      <dsp:txXfrm>
        <a:off x="836323" y="1813624"/>
        <a:ext cx="9679276" cy="724089"/>
      </dsp:txXfrm>
    </dsp:sp>
    <dsp:sp modelId="{9E81F582-0469-473A-814C-808A9FDFA51F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DB5487-18FA-402D-80BF-5FFFD4AE217B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140DA-5317-4A6F-8DB7-303473A8E57F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Data augmentation reduced overfitting and improved validation accuracy</a:t>
          </a:r>
        </a:p>
      </dsp:txBody>
      <dsp:txXfrm>
        <a:off x="836323" y="2718736"/>
        <a:ext cx="9679276" cy="724089"/>
      </dsp:txXfrm>
    </dsp:sp>
    <dsp:sp modelId="{CB2781B1-608A-45CF-8F17-FC72CB40B99A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48D6B1-D801-4FF0-9EF3-6B97E4974C97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7305AD-3C76-4783-9027-87F6B4FDF6CE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Misclassifications mostly occurred in visually similar classes (e.g., cat vs dog)</a:t>
          </a:r>
        </a:p>
      </dsp:txBody>
      <dsp:txXfrm>
        <a:off x="836323" y="3623848"/>
        <a:ext cx="9679276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91B66-E246-CE4A-997A-00E9ECFB8F9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BF0619-D33B-E24F-8185-CA8EBFD0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54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BF0619-D33B-E24F-8185-CA8EBFD05B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9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BF0619-D33B-E24F-8185-CA8EBFD05B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306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04C6-6C43-5D1E-7344-69C110293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BE3554-3158-53BD-4C7A-EC4ECE7DC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C95E4-0C46-858F-5EC5-67C1B5019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C7077-9A79-1F40-A1E5-EBD2E2A7F03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3B754-68C5-7C53-6C0A-2F293D999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983B4-2941-091B-3A34-EE33C25F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BD8F-C1ED-3542-AA31-2E19E0F5E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70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2047A-94C6-B4D0-477A-587C13E53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A3232-DABA-8F7F-AD27-4395AD949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A424A-0A67-254D-9E13-85B0B5E87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C7077-9A79-1F40-A1E5-EBD2E2A7F03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E2989-6CFB-6CEF-8A5D-6E79EB55A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C9476-C031-895A-0E87-A3787C214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BD8F-C1ED-3542-AA31-2E19E0F5E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44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48F87-31D8-A6E0-B813-0730AC51B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39DC5-5CC6-5DEF-1DD9-BB057CD64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F5D55-4BBD-BAB3-5FF7-ED32CBB2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C7077-9A79-1F40-A1E5-EBD2E2A7F03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6F7A5-C1BD-EE85-B679-2E982FFDD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35C82-4AE8-C29B-4765-1826AFBA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BD8F-C1ED-3542-AA31-2E19E0F5E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663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53D8-7CBA-6848-CA2A-4CF3632E0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AAAB0-7244-71AD-1FE4-79F9B919D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538D3-D8C8-7C24-6927-CA6208220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C2D78-F414-D74A-1A93-FEE9DE725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C7077-9A79-1F40-A1E5-EBD2E2A7F03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6ED0D-DED9-FC1D-6D8A-7D6D0B96A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664FA-A2F4-A43F-7363-678F5514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BD8F-C1ED-3542-AA31-2E19E0F5E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1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4558C-6F33-FFE5-4EB8-D308CD4D0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1F1B3-A409-1452-6EAA-DCCCD910D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52C80-3E22-1DBE-EA9C-E11E77D5F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0AE68F-0D81-A4F9-0AE5-25753C88D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905893-9D87-9AD1-79B1-8992204223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9476B1-DDB9-31E4-4FF9-075F4A53C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C7077-9A79-1F40-A1E5-EBD2E2A7F03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4028A6-50B9-C8B4-7206-2D6FD8806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7C927B-1B63-A540-E35A-1C8FEB524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BD8F-C1ED-3542-AA31-2E19E0F5E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7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059AE-2DF9-EAB7-03A1-5DDFAC6BD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3125A-DD32-F18E-541D-0DCEFDE2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C7077-9A79-1F40-A1E5-EBD2E2A7F03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B251A0-5789-D242-1612-D57930A1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10F50-32B5-4DF6-AEA4-B2EC0B33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BD8F-C1ED-3542-AA31-2E19E0F5E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25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42702C-8D0C-CFDA-9F6B-95B2F4260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C7077-9A79-1F40-A1E5-EBD2E2A7F03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B58C63-3AAB-188C-9AF2-96BF8CD3C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BAD3A-72B4-2D70-07C7-8B3591945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BD8F-C1ED-3542-AA31-2E19E0F5E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09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322CD-7D6A-FA6F-B3C1-0A54D294A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A6A6B-F6D5-7C24-8D8B-0BAB4A70F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9997F-54EE-9EDF-62E4-98DD16F08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ECB79-E6DB-4A63-8A7D-7B2B2DDFC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C7077-9A79-1F40-A1E5-EBD2E2A7F03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F87C0-8118-7FF9-CB3D-00058CE6A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FE6BF-A080-5973-4641-6FDEFDF9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BD8F-C1ED-3542-AA31-2E19E0F5E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24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AA1F1-A12A-8825-4307-4599E793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9B5342-C175-FD88-1C3B-59A53F666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B77EE0-9776-0DF5-79DB-7044D9546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570329-A621-654D-5712-4F2FFADA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C7077-9A79-1F40-A1E5-EBD2E2A7F03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53649-D81A-CAEB-8F08-889FFE2CB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8096F-8FFA-1E7F-E04C-B6F2CDBD8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BD8F-C1ED-3542-AA31-2E19E0F5E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70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50F03-EA2C-28F0-1270-00058EDD4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08F5D-73EB-CF78-7499-FBDB8CAF2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FFF3D-EDD5-D961-9304-B38EC4AFB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C7077-9A79-1F40-A1E5-EBD2E2A7F03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585E0-3849-0B7A-2E7E-D6AB09165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76023-CA86-7366-7112-ADEEEF7D8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BD8F-C1ED-3542-AA31-2E19E0F5E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479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CEE80E-3E1C-C08B-16F1-BB4D763D67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9CA33-A618-A2D8-C8D4-55824376A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80007-5A32-14D1-8C8A-7BEA0A695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C7077-9A79-1F40-A1E5-EBD2E2A7F03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C9B18-6B68-12A3-AE16-93ABF0334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CE6E1-82EB-423F-80E5-1C507858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9BD8F-C1ED-3542-AA31-2E19E0F5E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14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F2F41A-C53B-3D9B-9185-10C45F58D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62819-3159-6000-5DC9-75EF43487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00B3C-370B-B297-4976-E4379DC16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9C7077-9A79-1F40-A1E5-EBD2E2A7F03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6E569-1B5C-F28F-8434-D19720557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A31BB-6868-DDD6-0E05-719387B57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9BD8F-C1ED-3542-AA31-2E19E0F5E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14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98AF83-94C8-6875-5432-0ADC31859C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tx2"/>
                </a:solidFill>
              </a:rPr>
              <a:t>CIFAR-10 Image Classification using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FDEBE-A22A-4614-C7D4-C94F1B24E8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Dataset:</a:t>
            </a:r>
            <a:r>
              <a:rPr lang="en-US" dirty="0"/>
              <a:t> CIFAR-10 (60,000 images / 10 classes)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40832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C1E95-9911-DB7A-0E4B-7768DBD5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800" dirty="0"/>
              <a:t>Objective &amp; Dataset</a:t>
            </a:r>
          </a:p>
        </p:txBody>
      </p:sp>
      <p:sp>
        <p:nvSpPr>
          <p:cNvPr id="105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2B804-656D-8F0D-706B-7679FCB42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 b="1" dirty="0"/>
              <a:t>Goal:</a:t>
            </a:r>
            <a:r>
              <a:rPr lang="en-US" sz="2000" dirty="0"/>
              <a:t> Train and evaluate multiple deep learning models for CIFAR-10 image recognition</a:t>
            </a:r>
          </a:p>
          <a:p>
            <a:r>
              <a:rPr lang="en-US" sz="2000" dirty="0"/>
              <a:t>10 object classes (airplane, auto, bird, etc.)</a:t>
            </a:r>
          </a:p>
          <a:p>
            <a:r>
              <a:rPr lang="en-US" sz="2000" dirty="0"/>
              <a:t>32×32 RGB images</a:t>
            </a:r>
          </a:p>
          <a:p>
            <a:r>
              <a:rPr lang="en-US" sz="2000" b="1" dirty="0"/>
              <a:t>Challenges: </a:t>
            </a:r>
            <a:r>
              <a:rPr lang="en-US" sz="2000" dirty="0"/>
              <a:t>low resolution, visual similarity (e.g., cat vs dog)</a:t>
            </a:r>
          </a:p>
          <a:p>
            <a:endParaRPr lang="en-US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788CBD-F27F-8B45-91EF-2892D4EA7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1052" y="1931090"/>
            <a:ext cx="7371394" cy="299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557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7467600" cy="6858000"/>
            <a:chOff x="7467600" y="0"/>
            <a:chExt cx="4724400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35AF59-BF62-0A6F-5B20-8D04EF2CD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76400"/>
            <a:ext cx="3810000" cy="3505200"/>
          </a:xfrm>
        </p:spPr>
        <p:txBody>
          <a:bodyPr anchor="t">
            <a:normAutofit/>
          </a:bodyPr>
          <a:lstStyle/>
          <a:p>
            <a:r>
              <a:rPr lang="en-US" dirty="0"/>
              <a:t>Model Architectures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5A2D85-5713-74D5-0B2D-FFA5FF732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4" y="1676400"/>
            <a:ext cx="5638796" cy="3505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>
                    <a:alpha val="55000"/>
                  </a:schemeClr>
                </a:solidFill>
              </a:rPr>
              <a:t>We tested three deep learning models:</a:t>
            </a:r>
          </a:p>
          <a:p>
            <a:r>
              <a:rPr lang="en-US" sz="2400" dirty="0">
                <a:solidFill>
                  <a:schemeClr val="tx1">
                    <a:alpha val="55000"/>
                  </a:schemeClr>
                </a:solidFill>
              </a:rPr>
              <a:t>Baseline CNN (simple conv + pooling)</a:t>
            </a:r>
          </a:p>
          <a:p>
            <a:r>
              <a:rPr lang="en-US" sz="2400" dirty="0">
                <a:solidFill>
                  <a:schemeClr val="tx1">
                    <a:alpha val="55000"/>
                  </a:schemeClr>
                </a:solidFill>
              </a:rPr>
              <a:t>Improved CNN (BatchNorm + Dropout + Augmentation)</a:t>
            </a:r>
          </a:p>
          <a:p>
            <a:r>
              <a:rPr lang="en-US" sz="2400" dirty="0">
                <a:solidFill>
                  <a:schemeClr val="tx1">
                    <a:alpha val="55000"/>
                  </a:schemeClr>
                </a:solidFill>
              </a:rPr>
              <a:t>MobileNetV2 Transfer Learning (Best performance)</a:t>
            </a:r>
          </a:p>
        </p:txBody>
      </p:sp>
    </p:spTree>
    <p:extLst>
      <p:ext uri="{BB962C8B-B14F-4D97-AF65-F5344CB8AC3E}">
        <p14:creationId xmlns:p14="http://schemas.microsoft.com/office/powerpoint/2010/main" val="3430173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9708A1-A93B-A6EE-2DEA-584BC57B0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en-US" sz="3200" dirty="0">
                <a:solidFill>
                  <a:srgbClr val="595959"/>
                </a:solidFill>
              </a:rPr>
              <a:t>Model Design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FA54A-BAF6-78E1-1875-9021471E2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95959"/>
                </a:solidFill>
              </a:rPr>
              <a:t>Highlight your contribution:</a:t>
            </a:r>
          </a:p>
          <a:p>
            <a:r>
              <a:rPr lang="en-US" sz="2000" dirty="0">
                <a:solidFill>
                  <a:srgbClr val="595959"/>
                </a:solidFill>
              </a:rPr>
              <a:t>Data Augmentation (horizontal flip + rotation)</a:t>
            </a:r>
          </a:p>
          <a:p>
            <a:r>
              <a:rPr lang="en-US" sz="2000" dirty="0">
                <a:solidFill>
                  <a:srgbClr val="595959"/>
                </a:solidFill>
              </a:rPr>
              <a:t>More filters: 32 → 64 → 128</a:t>
            </a:r>
          </a:p>
          <a:p>
            <a:r>
              <a:rPr lang="en-US" sz="2000" dirty="0">
                <a:solidFill>
                  <a:srgbClr val="595959"/>
                </a:solidFill>
              </a:rPr>
              <a:t>Batch Normalization for stable training</a:t>
            </a:r>
          </a:p>
          <a:p>
            <a:r>
              <a:rPr lang="en-US" sz="2000" dirty="0">
                <a:solidFill>
                  <a:srgbClr val="595959"/>
                </a:solidFill>
              </a:rPr>
              <a:t>Dropout (0.5) to reduce overfitting</a:t>
            </a:r>
          </a:p>
          <a:p>
            <a:endParaRPr lang="en-US" sz="2000" dirty="0">
              <a:solidFill>
                <a:srgbClr val="59595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6E7EE-A0BF-8392-185A-38C8249F2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313" y="1039164"/>
            <a:ext cx="5355374" cy="477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049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1" name="Rectangle 206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2" name="Rectangle 206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F2A2A-5BB1-BCA0-2A86-D3660D055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Accuracy &amp; Loss Curves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7440F060-E730-0418-93E5-68920CD0E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86549" y="500788"/>
            <a:ext cx="9218901" cy="3019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EE11EDE-38C9-E099-AEE1-7C207214CE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40256" y="3833199"/>
            <a:ext cx="8332826" cy="111998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Training and validation accuracy increased across epochs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Validation accuracy is close to training → reduced overfitting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Loss steadily decreases → model is learning effectively</a:t>
            </a:r>
          </a:p>
        </p:txBody>
      </p:sp>
    </p:spTree>
    <p:extLst>
      <p:ext uri="{BB962C8B-B14F-4D97-AF65-F5344CB8AC3E}">
        <p14:creationId xmlns:p14="http://schemas.microsoft.com/office/powerpoint/2010/main" val="218656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EC188-D1E1-BAAE-F74C-BAA792F8E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5400" kern="1200">
                <a:latin typeface="+mj-lt"/>
                <a:ea typeface="+mj-ea"/>
                <a:cs typeface="+mj-cs"/>
              </a:rPr>
              <a:t>Results Comparison Table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5E7768-3DA6-07A7-90E9-C3066E0205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6770748"/>
              </p:ext>
            </p:extLst>
          </p:nvPr>
        </p:nvGraphicFramePr>
        <p:xfrm>
          <a:off x="838200" y="2348062"/>
          <a:ext cx="10515601" cy="3708930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65000"/>
                    <a:lumOff val="35000"/>
                  </a:schemeClr>
                </a:solidFill>
              </a:tblPr>
              <a:tblGrid>
                <a:gridCol w="4005261">
                  <a:extLst>
                    <a:ext uri="{9D8B030D-6E8A-4147-A177-3AD203B41FA5}">
                      <a16:colId xmlns:a16="http://schemas.microsoft.com/office/drawing/2014/main" val="1363593814"/>
                    </a:ext>
                  </a:extLst>
                </a:gridCol>
                <a:gridCol w="2401788">
                  <a:extLst>
                    <a:ext uri="{9D8B030D-6E8A-4147-A177-3AD203B41FA5}">
                      <a16:colId xmlns:a16="http://schemas.microsoft.com/office/drawing/2014/main" val="3716618812"/>
                    </a:ext>
                  </a:extLst>
                </a:gridCol>
                <a:gridCol w="4108552">
                  <a:extLst>
                    <a:ext uri="{9D8B030D-6E8A-4147-A177-3AD203B41FA5}">
                      <a16:colId xmlns:a16="http://schemas.microsoft.com/office/drawing/2014/main" val="4095522114"/>
                    </a:ext>
                  </a:extLst>
                </a:gridCol>
              </a:tblGrid>
              <a:tr h="582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132462" marR="132462" marT="66231" marB="662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solidFill>
                            <a:srgbClr val="FFFFFF"/>
                          </a:solidFill>
                        </a:rPr>
                        <a:t>Test Accuracy</a:t>
                      </a:r>
                    </a:p>
                  </a:txBody>
                  <a:tcPr marL="132462" marR="132462" marT="66231" marB="662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 marL="132462" marR="132462" marT="66231" marB="662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361818"/>
                  </a:ext>
                </a:extLst>
              </a:tr>
              <a:tr h="980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solidFill>
                            <a:srgbClr val="FFFFFF"/>
                          </a:solidFill>
                        </a:rPr>
                        <a:t>Baseline CNN</a:t>
                      </a:r>
                    </a:p>
                  </a:txBody>
                  <a:tcPr marL="132462" marR="132462" marT="66231" marB="662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>
                          <a:solidFill>
                            <a:srgbClr val="FFFFFF"/>
                          </a:solidFill>
                        </a:rPr>
                        <a:t>≈ 0.60</a:t>
                      </a:r>
                      <a:endParaRPr lang="en-US" sz="2600">
                        <a:solidFill>
                          <a:srgbClr val="FFFFFF"/>
                        </a:solidFill>
                      </a:endParaRPr>
                    </a:p>
                  </a:txBody>
                  <a:tcPr marL="132462" marR="132462" marT="66231" marB="662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solidFill>
                            <a:srgbClr val="FFFFFF"/>
                          </a:solidFill>
                        </a:rPr>
                        <a:t>Underfits due to limited depth</a:t>
                      </a:r>
                    </a:p>
                  </a:txBody>
                  <a:tcPr marL="132462" marR="132462" marT="66231" marB="662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206761"/>
                  </a:ext>
                </a:extLst>
              </a:tr>
              <a:tr h="582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solidFill>
                            <a:srgbClr val="FFFFFF"/>
                          </a:solidFill>
                        </a:rPr>
                        <a:t>Improved CNN (Adam)</a:t>
                      </a:r>
                    </a:p>
                  </a:txBody>
                  <a:tcPr marL="132462" marR="132462" marT="66231" marB="662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>
                          <a:solidFill>
                            <a:srgbClr val="FFFFFF"/>
                          </a:solidFill>
                        </a:rPr>
                        <a:t>≈ 0.66</a:t>
                      </a:r>
                      <a:endParaRPr lang="en-US" sz="2600">
                        <a:solidFill>
                          <a:srgbClr val="FFFFFF"/>
                        </a:solidFill>
                      </a:endParaRPr>
                    </a:p>
                  </a:txBody>
                  <a:tcPr marL="132462" marR="132462" marT="66231" marB="662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solidFill>
                            <a:srgbClr val="FFFFFF"/>
                          </a:solidFill>
                        </a:rPr>
                        <a:t>Better generalization</a:t>
                      </a:r>
                    </a:p>
                  </a:txBody>
                  <a:tcPr marL="132462" marR="132462" marT="66231" marB="662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392226"/>
                  </a:ext>
                </a:extLst>
              </a:tr>
              <a:tr h="582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solidFill>
                            <a:srgbClr val="FFFFFF"/>
                          </a:solidFill>
                        </a:rPr>
                        <a:t>Improved CNN (SGD)</a:t>
                      </a:r>
                    </a:p>
                  </a:txBody>
                  <a:tcPr marL="132462" marR="132462" marT="66231" marB="662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>
                          <a:solidFill>
                            <a:srgbClr val="FFFFFF"/>
                          </a:solidFill>
                        </a:rPr>
                        <a:t>≈ 0.63</a:t>
                      </a:r>
                      <a:endParaRPr lang="en-US" sz="2600">
                        <a:solidFill>
                          <a:srgbClr val="FFFFFF"/>
                        </a:solidFill>
                      </a:endParaRPr>
                    </a:p>
                  </a:txBody>
                  <a:tcPr marL="132462" marR="132462" marT="66231" marB="662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solidFill>
                            <a:srgbClr val="FFFFFF"/>
                          </a:solidFill>
                        </a:rPr>
                        <a:t>Slower convergence</a:t>
                      </a:r>
                    </a:p>
                  </a:txBody>
                  <a:tcPr marL="132462" marR="132462" marT="66231" marB="662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341432"/>
                  </a:ext>
                </a:extLst>
              </a:tr>
              <a:tr h="980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solidFill>
                            <a:srgbClr val="FFFFFF"/>
                          </a:solidFill>
                        </a:rPr>
                        <a:t>MobileNetV2 Transfer Learning</a:t>
                      </a:r>
                    </a:p>
                  </a:txBody>
                  <a:tcPr marL="132462" marR="132462" marT="66231" marB="662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>
                          <a:solidFill>
                            <a:srgbClr val="FFFFFF"/>
                          </a:solidFill>
                        </a:rPr>
                        <a:t>≈ 0.76</a:t>
                      </a:r>
                      <a:endParaRPr lang="en-US" sz="2600">
                        <a:solidFill>
                          <a:srgbClr val="FFFFFF"/>
                        </a:solidFill>
                      </a:endParaRPr>
                    </a:p>
                  </a:txBody>
                  <a:tcPr marL="132462" marR="132462" marT="66231" marB="662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solidFill>
                            <a:srgbClr val="FFFFFF"/>
                          </a:solidFill>
                        </a:rPr>
                        <a:t>Best overall due to pretrained features</a:t>
                      </a:r>
                    </a:p>
                  </a:txBody>
                  <a:tcPr marL="132462" marR="132462" marT="66231" marB="6623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36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137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9" name="Rectangle 4118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B4EBAE-4415-7EB9-5190-A0BDA8238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Confusion Matrix &amp; Predictions</a:t>
            </a:r>
          </a:p>
        </p:txBody>
      </p:sp>
      <p:sp>
        <p:nvSpPr>
          <p:cNvPr id="412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CEF618-24AD-1A99-B1FF-7EF33121D359}"/>
              </a:ext>
            </a:extLst>
          </p:cNvPr>
          <p:cNvSpPr txBox="1"/>
          <p:nvPr/>
        </p:nvSpPr>
        <p:spPr>
          <a:xfrm>
            <a:off x="536846" y="2894076"/>
            <a:ext cx="5963920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q"/>
            </a:pPr>
            <a:r>
              <a:rPr lang="en-US" sz="2200" dirty="0"/>
              <a:t>Best model: </a:t>
            </a:r>
            <a:r>
              <a:rPr lang="en-US" sz="2200" b="1" dirty="0"/>
              <a:t>MobileNetV2 (~76% test accuracy)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q"/>
            </a:pPr>
            <a:r>
              <a:rPr lang="en-US" sz="2200" dirty="0"/>
              <a:t>Performs well on clear classes (ship, airplane, truck)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q"/>
            </a:pPr>
            <a:r>
              <a:rPr lang="en-US" sz="2200" dirty="0"/>
              <a:t>Most confusion: </a:t>
            </a:r>
            <a:r>
              <a:rPr lang="en-US" sz="2200" b="1" dirty="0"/>
              <a:t>cat ↔ dog</a:t>
            </a:r>
            <a:r>
              <a:rPr lang="en-US" sz="2200" dirty="0"/>
              <a:t>, </a:t>
            </a:r>
            <a:r>
              <a:rPr lang="en-US" sz="2200" b="1" dirty="0"/>
              <a:t>truck ↔ automobile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q"/>
            </a:pPr>
            <a:r>
              <a:rPr lang="en-US" sz="2200" dirty="0"/>
              <a:t>Low resolution (32×32) makes fine details difficult to classify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E592196-5B03-4794-692E-6A4DF6F87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" r="3940" b="5"/>
          <a:stretch>
            <a:fillRect/>
          </a:stretch>
        </p:blipFill>
        <p:spPr bwMode="auto">
          <a:xfrm>
            <a:off x="7189461" y="140980"/>
            <a:ext cx="3623682" cy="340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948AECDC-9CEF-AE27-5A96-4A26BB2AC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6" r="3939" b="-1"/>
          <a:stretch>
            <a:fillRect/>
          </a:stretch>
        </p:blipFill>
        <p:spPr bwMode="auto">
          <a:xfrm>
            <a:off x="6527520" y="3549543"/>
            <a:ext cx="5056802" cy="314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2143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6A545-5913-7AFB-F3E4-C4727433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A09B8D-A17D-68D0-B1DB-66B26DCBDC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9542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26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9CD152F-0D91-C51B-0E38-0F9437493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Limitations &amp; </a:t>
            </a: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A021-DB11-9F6D-E05D-1ADFA382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chemeClr val="tx2"/>
                </a:solidFill>
              </a:rPr>
              <a:t>Limitations:</a:t>
            </a:r>
          </a:p>
          <a:p>
            <a:pPr marL="0" indent="0">
              <a:buNone/>
            </a:pPr>
            <a:r>
              <a:rPr lang="en-US" sz="1700">
                <a:solidFill>
                  <a:schemeClr val="tx2"/>
                </a:solidFill>
              </a:rPr>
              <a:t>• Limited compute in Colab → fewer training epochs</a:t>
            </a:r>
          </a:p>
          <a:p>
            <a:pPr marL="0" indent="0">
              <a:buNone/>
            </a:pPr>
            <a:r>
              <a:rPr lang="en-US" sz="1700">
                <a:solidFill>
                  <a:schemeClr val="tx2"/>
                </a:solidFill>
              </a:rPr>
              <a:t>• MobileNetV2 base layers frozen → not fully optimized for CIFAR-10</a:t>
            </a:r>
          </a:p>
          <a:p>
            <a:pPr marL="0" indent="0">
              <a:buNone/>
            </a:pPr>
            <a:r>
              <a:rPr lang="en-US" sz="1700">
                <a:solidFill>
                  <a:schemeClr val="tx2"/>
                </a:solidFill>
              </a:rPr>
              <a:t>• Fixed learning rates (no scheduling)</a:t>
            </a:r>
          </a:p>
          <a:p>
            <a:pPr marL="0" indent="0">
              <a:buNone/>
            </a:pPr>
            <a:r>
              <a:rPr lang="en-US" sz="1700">
                <a:solidFill>
                  <a:schemeClr val="tx2"/>
                </a:solidFill>
              </a:rPr>
              <a:t>• Only one dataset tested (no cross-dataset generalization)</a:t>
            </a:r>
          </a:p>
          <a:p>
            <a:pPr marL="0" indent="0">
              <a:buNone/>
            </a:pPr>
            <a:endParaRPr lang="en-US" sz="17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700">
                <a:solidFill>
                  <a:schemeClr val="tx2"/>
                </a:solidFill>
              </a:rPr>
              <a:t>Future Work:</a:t>
            </a:r>
          </a:p>
          <a:p>
            <a:pPr marL="0" indent="0">
              <a:buNone/>
            </a:pPr>
            <a:r>
              <a:rPr lang="en-US" sz="1700">
                <a:solidFill>
                  <a:schemeClr val="tx2"/>
                </a:solidFill>
              </a:rPr>
              <a:t>• Fine-tune deeper MobileNetV2 layers for higher accuracy</a:t>
            </a:r>
          </a:p>
          <a:p>
            <a:pPr marL="0" indent="0">
              <a:buNone/>
            </a:pPr>
            <a:r>
              <a:rPr lang="en-US" sz="1700">
                <a:solidFill>
                  <a:schemeClr val="tx2"/>
                </a:solidFill>
              </a:rPr>
              <a:t>• Add stronger augmentation (cutout, mixup)</a:t>
            </a:r>
          </a:p>
          <a:p>
            <a:pPr marL="0" indent="0">
              <a:buNone/>
            </a:pPr>
            <a:r>
              <a:rPr lang="en-US" sz="1700">
                <a:solidFill>
                  <a:schemeClr val="tx2"/>
                </a:solidFill>
              </a:rPr>
              <a:t>• Use learning-rate scheduling + early stopping</a:t>
            </a:r>
          </a:p>
          <a:p>
            <a:pPr marL="0" indent="0">
              <a:buNone/>
            </a:pPr>
            <a:r>
              <a:rPr lang="en-US" sz="1700">
                <a:solidFill>
                  <a:schemeClr val="tx2"/>
                </a:solidFill>
              </a:rPr>
              <a:t>• Test on CIFAR-100 or TinyImageNet for more challenging tasks</a:t>
            </a:r>
          </a:p>
          <a:p>
            <a:pPr marL="0" indent="0">
              <a:buNone/>
            </a:pPr>
            <a:endParaRPr lang="en-US" sz="17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3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395</Words>
  <Application>Microsoft Macintosh PowerPoint</Application>
  <PresentationFormat>Widescreen</PresentationFormat>
  <Paragraphs>63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Wingdings</vt:lpstr>
      <vt:lpstr>Office Theme</vt:lpstr>
      <vt:lpstr>CIFAR-10 Image Classification using Deep Learning</vt:lpstr>
      <vt:lpstr>Objective &amp; Dataset</vt:lpstr>
      <vt:lpstr>Model Architectures</vt:lpstr>
      <vt:lpstr>Model Design Improvements</vt:lpstr>
      <vt:lpstr>Accuracy &amp; Loss Curves</vt:lpstr>
      <vt:lpstr>Results Comparison Table</vt:lpstr>
      <vt:lpstr>Confusion Matrix &amp; Predictions</vt:lpstr>
      <vt:lpstr>Key Takeaways</vt:lpstr>
      <vt:lpstr>Limitations &amp; 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Anushka Patwa</dc:creator>
  <cp:lastModifiedBy>Anushka Patwa</cp:lastModifiedBy>
  <cp:revision>4</cp:revision>
  <dcterms:created xsi:type="dcterms:W3CDTF">2025-12-01T02:20:03Z</dcterms:created>
  <dcterms:modified xsi:type="dcterms:W3CDTF">2025-12-01T23:13:32Z</dcterms:modified>
</cp:coreProperties>
</file>